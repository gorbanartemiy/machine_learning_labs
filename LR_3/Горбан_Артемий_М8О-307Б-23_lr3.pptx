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2" d="100"/>
          <a:sy n="112" d="100"/>
        </p:scale>
        <p:origin x="55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31EAD-34AA-4878-BFBE-158D40D4537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4027-89B3-4E2E-A242-208DE6A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6984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31EAD-34AA-4878-BFBE-158D40D4537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4027-89B3-4E2E-A242-208DE6A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323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31EAD-34AA-4878-BFBE-158D40D4537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4027-89B3-4E2E-A242-208DE6A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103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31EAD-34AA-4878-BFBE-158D40D4537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4027-89B3-4E2E-A242-208DE6A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628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31EAD-34AA-4878-BFBE-158D40D4537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4027-89B3-4E2E-A242-208DE6A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217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31EAD-34AA-4878-BFBE-158D40D4537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4027-89B3-4E2E-A242-208DE6A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036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31EAD-34AA-4878-BFBE-158D40D4537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4027-89B3-4E2E-A242-208DE6A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685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31EAD-34AA-4878-BFBE-158D40D4537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4027-89B3-4E2E-A242-208DE6A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0752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31EAD-34AA-4878-BFBE-158D40D4537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4027-89B3-4E2E-A242-208DE6A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1406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31EAD-34AA-4878-BFBE-158D40D4537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4027-89B3-4E2E-A242-208DE6A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08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31EAD-34AA-4878-BFBE-158D40D4537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4027-89B3-4E2E-A242-208DE6A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4505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31EAD-34AA-4878-BFBE-158D40D4537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4027-89B3-4E2E-A242-208DE6A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65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31EAD-34AA-4878-BFBE-158D40D4537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4027-89B3-4E2E-A242-208DE6A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8081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31EAD-34AA-4878-BFBE-158D40D4537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4027-89B3-4E2E-A242-208DE6A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6507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31EAD-34AA-4878-BFBE-158D40D4537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4027-89B3-4E2E-A242-208DE6A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3986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31EAD-34AA-4878-BFBE-158D40D4537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4027-89B3-4E2E-A242-208DE6A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8009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31EAD-34AA-4878-BFBE-158D40D4537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3F4027-89B3-4E2E-A242-208DE6A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46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2031EAD-34AA-4878-BFBE-158D40D45372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3F4027-89B3-4E2E-A242-208DE6AE18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188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4800" b="1" dirty="0"/>
              <a:t>Лабораторная работа </a:t>
            </a:r>
            <a:r>
              <a:rPr lang="ru-RU" sz="4800" b="1" dirty="0" smtClean="0"/>
              <a:t>№</a:t>
            </a:r>
            <a:r>
              <a:rPr lang="en-US" sz="4800" b="1" dirty="0"/>
              <a:t>3</a:t>
            </a:r>
            <a:r>
              <a:rPr lang="ru-RU" sz="4800" b="1" dirty="0" smtClean="0"/>
              <a:t>. </a:t>
            </a:r>
            <a:r>
              <a:rPr lang="ru-RU" sz="4800" b="1" dirty="0"/>
              <a:t>Подбор </a:t>
            </a:r>
            <a:r>
              <a:rPr lang="ru-RU" sz="4800" b="1" dirty="0" err="1"/>
              <a:t>гиперпараметров</a:t>
            </a:r>
            <a:r>
              <a:rPr lang="ru-RU" sz="4800" b="1" dirty="0"/>
              <a:t> </a:t>
            </a:r>
            <a:r>
              <a:rPr lang="ru-RU" sz="4800" b="1" dirty="0" smtClean="0"/>
              <a:t>модели</a:t>
            </a:r>
            <a:endParaRPr lang="en-US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dirty="0" err="1" smtClean="0"/>
              <a:t>Горбан</a:t>
            </a:r>
            <a:r>
              <a:rPr lang="ru-RU" dirty="0" smtClean="0"/>
              <a:t> Артемий </a:t>
            </a:r>
            <a:r>
              <a:rPr lang="ru-RU" dirty="0" smtClean="0"/>
              <a:t>М8О-307Б-23</a:t>
            </a:r>
            <a:endParaRPr lang="en-US" dirty="0" smtClean="0"/>
          </a:p>
          <a:p>
            <a:r>
              <a:rPr lang="ru-RU" dirty="0"/>
              <a:t>Выбранная модель: </a:t>
            </a:r>
            <a:r>
              <a:rPr lang="en-US" dirty="0"/>
              <a:t>Random Forest</a:t>
            </a:r>
            <a:r>
              <a:rPr lang="en-US" dirty="0" smtClean="0"/>
              <a:t>.</a:t>
            </a:r>
            <a:endParaRPr lang="ru-RU" dirty="0" smtClean="0"/>
          </a:p>
          <a:p>
            <a:r>
              <a:rPr lang="ru-RU" dirty="0" err="1" smtClean="0"/>
              <a:t>Датасет</a:t>
            </a:r>
            <a:r>
              <a:rPr lang="ru-RU" dirty="0"/>
              <a:t>: </a:t>
            </a:r>
            <a:r>
              <a:rPr lang="ru-RU" dirty="0"/>
              <a:t>Продукты</a:t>
            </a:r>
          </a:p>
        </p:txBody>
      </p:sp>
    </p:spTree>
    <p:extLst>
      <p:ext uri="{BB962C8B-B14F-4D97-AF65-F5344CB8AC3E}">
        <p14:creationId xmlns:p14="http://schemas.microsoft.com/office/powerpoint/2010/main" val="3518266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Подготовка данных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Цель:</a:t>
            </a:r>
            <a:r>
              <a:rPr lang="ru-RU" dirty="0"/>
              <a:t> Предсказать, популярен ли товар (купили &gt;1000 раз).</a:t>
            </a:r>
          </a:p>
          <a:p>
            <a:pPr marL="0" indent="0">
              <a:buNone/>
            </a:pPr>
            <a:r>
              <a:rPr lang="ru-RU" b="1" dirty="0"/>
              <a:t>Изменения в </a:t>
            </a:r>
            <a:r>
              <a:rPr lang="ru-RU" b="1" dirty="0" smtClean="0"/>
              <a:t>данных:</a:t>
            </a:r>
            <a:endParaRPr lang="ru-RU" b="1" dirty="0"/>
          </a:p>
          <a:p>
            <a:pPr marL="0" indent="0">
              <a:buNone/>
            </a:pPr>
            <a:r>
              <a:rPr lang="en-US" dirty="0" smtClean="0"/>
              <a:t>Date -&gt; </a:t>
            </a:r>
            <a:r>
              <a:rPr lang="en-US" dirty="0"/>
              <a:t>Month, </a:t>
            </a:r>
            <a:r>
              <a:rPr lang="en-US" dirty="0" err="1"/>
              <a:t>DayOfWeek</a:t>
            </a:r>
            <a:r>
              <a:rPr lang="en-US" dirty="0"/>
              <a:t>, </a:t>
            </a:r>
            <a:r>
              <a:rPr lang="en-US" dirty="0" err="1"/>
              <a:t>DayOfMonth</a:t>
            </a:r>
            <a:r>
              <a:rPr lang="en-US" dirty="0" smtClean="0"/>
              <a:t>.</a:t>
            </a:r>
          </a:p>
          <a:p>
            <a:pPr marL="0" indent="0">
              <a:buNone/>
            </a:pPr>
            <a:r>
              <a:rPr lang="ru-RU" dirty="0" smtClean="0"/>
              <a:t>Создан </a:t>
            </a:r>
            <a:r>
              <a:rPr lang="ru-RU" dirty="0" err="1" smtClean="0"/>
              <a:t>таргет</a:t>
            </a:r>
            <a:r>
              <a:rPr lang="en-US" dirty="0" smtClean="0"/>
              <a:t> </a:t>
            </a:r>
            <a:r>
              <a:rPr lang="en-US" dirty="0" err="1" smtClean="0"/>
              <a:t>is_popular</a:t>
            </a:r>
            <a:endParaRPr lang="ru-RU" dirty="0"/>
          </a:p>
          <a:p>
            <a:pPr marL="0" indent="0">
              <a:buNone/>
            </a:pPr>
            <a:r>
              <a:rPr lang="en-US" dirty="0" err="1" smtClean="0"/>
              <a:t>Признаки</a:t>
            </a:r>
            <a:r>
              <a:rPr lang="en-US" dirty="0"/>
              <a:t>: </a:t>
            </a:r>
            <a:r>
              <a:rPr lang="en-US" dirty="0" err="1"/>
              <a:t>Member_number</a:t>
            </a:r>
            <a:r>
              <a:rPr lang="en-US" dirty="0"/>
              <a:t>, Month, </a:t>
            </a:r>
            <a:r>
              <a:rPr lang="en-US" dirty="0" err="1"/>
              <a:t>DayOfWeek</a:t>
            </a:r>
            <a:r>
              <a:rPr lang="en-US" dirty="0"/>
              <a:t>, </a:t>
            </a:r>
            <a:r>
              <a:rPr lang="en-US" dirty="0" err="1"/>
              <a:t>DayOfMonth</a:t>
            </a:r>
            <a:r>
              <a:rPr lang="en-US" dirty="0"/>
              <a:t>.</a:t>
            </a: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Метод</a:t>
            </a:r>
            <a:r>
              <a:rPr lang="en-US" dirty="0"/>
              <a:t>: Stratified split (80/20).</a:t>
            </a:r>
            <a:endParaRPr lang="ru-RU" b="1" dirty="0" smtClean="0"/>
          </a:p>
        </p:txBody>
      </p:sp>
    </p:spTree>
    <p:extLst>
      <p:ext uri="{BB962C8B-B14F-4D97-AF65-F5344CB8AC3E}">
        <p14:creationId xmlns:p14="http://schemas.microsoft.com/office/powerpoint/2010/main" val="1942973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Гиперпараметры</a:t>
            </a:r>
            <a:r>
              <a:rPr lang="ru-RU" dirty="0"/>
              <a:t> </a:t>
            </a:r>
            <a:r>
              <a:rPr lang="en-US" dirty="0"/>
              <a:t>Random Forest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err="1" smtClean="0"/>
              <a:t>n_estimators</a:t>
            </a:r>
            <a:r>
              <a:rPr lang="en-US" dirty="0" smtClean="0"/>
              <a:t> </a:t>
            </a:r>
            <a:r>
              <a:rPr lang="en-US" dirty="0"/>
              <a:t>-</a:t>
            </a:r>
            <a:r>
              <a:rPr lang="en-US" dirty="0" smtClean="0"/>
              <a:t> </a:t>
            </a:r>
            <a:r>
              <a:rPr lang="ru-RU" dirty="0" smtClean="0"/>
              <a:t>Число </a:t>
            </a:r>
            <a:r>
              <a:rPr lang="ru-RU" dirty="0"/>
              <a:t>деревьев</a:t>
            </a:r>
            <a:r>
              <a:rPr lang="ru-RU" dirty="0"/>
              <a:t/>
            </a:r>
            <a:br>
              <a:rPr lang="ru-RU" dirty="0"/>
            </a:br>
            <a:r>
              <a:rPr lang="en-US" dirty="0" err="1" smtClean="0"/>
              <a:t>max_depth</a:t>
            </a:r>
            <a:r>
              <a:rPr lang="en-US" dirty="0" smtClean="0"/>
              <a:t> - </a:t>
            </a:r>
            <a:r>
              <a:rPr lang="ru-RU" dirty="0" smtClean="0"/>
              <a:t>Макс</a:t>
            </a:r>
            <a:r>
              <a:rPr lang="ru-RU" dirty="0"/>
              <a:t>. глубина дерева</a:t>
            </a:r>
            <a:r>
              <a:rPr lang="ru-RU" dirty="0"/>
              <a:t/>
            </a:r>
            <a:br>
              <a:rPr lang="ru-RU" dirty="0"/>
            </a:br>
            <a:r>
              <a:rPr lang="en-US" dirty="0" err="1" smtClean="0"/>
              <a:t>min_samples_split</a:t>
            </a:r>
            <a:r>
              <a:rPr lang="en-US" dirty="0" smtClean="0"/>
              <a:t> - </a:t>
            </a:r>
            <a:r>
              <a:rPr lang="ru-RU" dirty="0" smtClean="0"/>
              <a:t>Мин</a:t>
            </a:r>
            <a:r>
              <a:rPr lang="ru-RU" dirty="0"/>
              <a:t>. образцов для разделения узла</a:t>
            </a:r>
            <a:r>
              <a:rPr lang="ru-RU" dirty="0"/>
              <a:t/>
            </a:r>
            <a:br>
              <a:rPr lang="ru-RU" dirty="0"/>
            </a:br>
            <a:r>
              <a:rPr lang="en-US" dirty="0" err="1" smtClean="0"/>
              <a:t>min_samples_leaf</a:t>
            </a:r>
            <a:r>
              <a:rPr lang="en-US" dirty="0" smtClean="0"/>
              <a:t> - </a:t>
            </a:r>
            <a:r>
              <a:rPr lang="ru-RU" dirty="0" smtClean="0"/>
              <a:t>Мин</a:t>
            </a:r>
            <a:r>
              <a:rPr lang="ru-RU" dirty="0"/>
              <a:t>. образцов в листе</a:t>
            </a:r>
            <a:r>
              <a:rPr lang="ru-RU" dirty="0"/>
              <a:t/>
            </a:r>
            <a:br>
              <a:rPr lang="ru-RU" dirty="0"/>
            </a:br>
            <a:r>
              <a:rPr lang="en-US" dirty="0" err="1" smtClean="0"/>
              <a:t>max_features</a:t>
            </a:r>
            <a:r>
              <a:rPr lang="en-US" dirty="0" smtClean="0"/>
              <a:t> - </a:t>
            </a:r>
            <a:r>
              <a:rPr lang="ru-RU" dirty="0" smtClean="0"/>
              <a:t>Число </a:t>
            </a:r>
            <a:r>
              <a:rPr lang="ru-RU" dirty="0"/>
              <a:t>признаков для разбиения</a:t>
            </a:r>
            <a:r>
              <a:rPr lang="ru-RU" dirty="0"/>
              <a:t/>
            </a:r>
            <a:br>
              <a:rPr lang="ru-RU" dirty="0"/>
            </a:br>
            <a:r>
              <a:rPr lang="en-US" dirty="0" smtClean="0"/>
              <a:t>criterion - </a:t>
            </a:r>
            <a:r>
              <a:rPr lang="ru-RU" dirty="0" smtClean="0"/>
              <a:t>Критерий </a:t>
            </a:r>
            <a:r>
              <a:rPr lang="ru-RU" dirty="0"/>
              <a:t>(</a:t>
            </a:r>
            <a:r>
              <a:rPr lang="en-US" dirty="0" err="1"/>
              <a:t>gini</a:t>
            </a:r>
            <a:r>
              <a:rPr lang="en-US" dirty="0"/>
              <a:t>/entropy)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94895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подбора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2089029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ru-RU" dirty="0" err="1"/>
              <a:t>Grid</a:t>
            </a:r>
            <a:r>
              <a:rPr lang="ru-RU" dirty="0"/>
              <a:t> </a:t>
            </a:r>
            <a:r>
              <a:rPr lang="ru-RU" dirty="0" err="1"/>
              <a:t>Search</a:t>
            </a:r>
            <a:r>
              <a:rPr lang="ru-RU" dirty="0"/>
              <a:t>: Полный перебор заданных значений.</a:t>
            </a:r>
            <a:br>
              <a:rPr lang="ru-RU" dirty="0"/>
            </a:br>
            <a:r>
              <a:rPr lang="ru-RU" dirty="0"/>
              <a:t>Плюсы: Находит лучший вариант в сетке.</a:t>
            </a:r>
            <a:br>
              <a:rPr lang="ru-RU" dirty="0"/>
            </a:br>
            <a:r>
              <a:rPr lang="ru-RU" dirty="0"/>
              <a:t>Минусы: Долго при большой сетке</a:t>
            </a:r>
            <a:r>
              <a:rPr lang="ru-RU" dirty="0" smtClean="0"/>
              <a:t>.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 err="1"/>
              <a:t>Random</a:t>
            </a:r>
            <a:r>
              <a:rPr lang="ru-RU" dirty="0"/>
              <a:t> </a:t>
            </a:r>
            <a:r>
              <a:rPr lang="ru-RU" dirty="0" err="1"/>
              <a:t>Search</a:t>
            </a:r>
            <a:r>
              <a:rPr lang="ru-RU" dirty="0"/>
              <a:t>: Случайная выборка из распределений.</a:t>
            </a:r>
            <a:br>
              <a:rPr lang="ru-RU" dirty="0"/>
            </a:br>
            <a:r>
              <a:rPr lang="ru-RU" dirty="0"/>
              <a:t>Плюсы: Быстрее, часто находит хороший вариант.</a:t>
            </a:r>
            <a:br>
              <a:rPr lang="ru-RU" dirty="0"/>
            </a:br>
            <a:r>
              <a:rPr lang="ru-RU" dirty="0"/>
              <a:t>Минусы: Может пропустить оптимальные значения.</a:t>
            </a:r>
          </a:p>
          <a:p>
            <a:pPr marL="0" indent="0">
              <a:buNone/>
            </a:pPr>
            <a:r>
              <a:rPr lang="ru-RU" dirty="0"/>
              <a:t/>
            </a:r>
            <a:br>
              <a:rPr lang="ru-RU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3983" y="1582180"/>
            <a:ext cx="4697338" cy="24113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900" y="4315310"/>
            <a:ext cx="4261503" cy="2328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504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Методы подбора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394892"/>
            <a:ext cx="8946541" cy="419548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 err="1"/>
              <a:t>Optuna</a:t>
            </a:r>
            <a:r>
              <a:rPr lang="ru-RU" dirty="0"/>
              <a:t>: Интеллектуальный </a:t>
            </a:r>
            <a:r>
              <a:rPr lang="ru-RU" dirty="0" smtClean="0"/>
              <a:t>поиск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Плюсы: Эффективно исследует пространство, </a:t>
            </a:r>
            <a:r>
              <a:rPr lang="ru-RU" dirty="0" smtClean="0"/>
              <a:t>умный.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Минусы: Сложнее в настройке</a:t>
            </a:r>
            <a:r>
              <a:rPr lang="ru-RU" dirty="0" smtClean="0"/>
              <a:t>.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TPOT (</a:t>
            </a:r>
            <a:r>
              <a:rPr lang="ru-RU" dirty="0" err="1"/>
              <a:t>AutoML</a:t>
            </a:r>
            <a:r>
              <a:rPr lang="ru-RU" dirty="0"/>
              <a:t>): Автоматически ищет лучший </a:t>
            </a:r>
            <a:r>
              <a:rPr lang="ru-RU" dirty="0" err="1" smtClean="0"/>
              <a:t>пайплайн</a:t>
            </a:r>
            <a:r>
              <a:rPr lang="ru-RU" dirty="0"/>
              <a:t/>
            </a:r>
            <a:br>
              <a:rPr lang="ru-RU" dirty="0"/>
            </a:br>
            <a:r>
              <a:rPr lang="ru-RU" dirty="0"/>
              <a:t>Плюсы: Полная автоматизация, может найти неочевидное решение.</a:t>
            </a:r>
            <a:br>
              <a:rPr lang="ru-RU" dirty="0"/>
            </a:br>
            <a:r>
              <a:rPr lang="ru-RU" dirty="0"/>
              <a:t>Минусы: Очень долго, </a:t>
            </a:r>
            <a:r>
              <a:rPr lang="ru-RU" dirty="0" smtClean="0"/>
              <a:t>чёрный ящик.</a:t>
            </a:r>
            <a:endParaRPr lang="ru-R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0629" y="1572426"/>
            <a:ext cx="4139000" cy="205574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9970" y="4786808"/>
            <a:ext cx="4069659" cy="196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734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Результаты подбора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3312" y="1432374"/>
            <a:ext cx="4422747" cy="145610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7284" y="3005157"/>
            <a:ext cx="8858595" cy="3126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414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Локальная </a:t>
            </a:r>
            <a:r>
              <a:rPr lang="ru-RU" dirty="0" smtClean="0"/>
              <a:t>интерпретация</a:t>
            </a:r>
            <a:r>
              <a:rPr lang="en-US" dirty="0" smtClean="0"/>
              <a:t> </a:t>
            </a:r>
            <a:r>
              <a:rPr lang="en-US" dirty="0"/>
              <a:t>(LIME)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1" y="1422228"/>
            <a:ext cx="8946541" cy="419548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Цель: Объяснить, почему для конкретного клиента модель предсказала </a:t>
            </a:r>
            <a:r>
              <a:rPr lang="ru-RU" dirty="0" smtClean="0"/>
              <a:t>популярный </a:t>
            </a:r>
            <a:r>
              <a:rPr lang="ru-RU" dirty="0"/>
              <a:t>или </a:t>
            </a:r>
            <a:r>
              <a:rPr lang="ru-RU" dirty="0" smtClean="0"/>
              <a:t>не популярный </a:t>
            </a:r>
            <a:r>
              <a:rPr lang="ru-RU" dirty="0"/>
              <a:t>товар</a:t>
            </a:r>
            <a:r>
              <a:rPr lang="ru-RU" dirty="0" smtClean="0"/>
              <a:t>.</a:t>
            </a:r>
            <a:endParaRPr lang="en-US" dirty="0" smtClean="0"/>
          </a:p>
          <a:p>
            <a:pPr marL="0" indent="0">
              <a:buNone/>
            </a:pPr>
            <a:r>
              <a:rPr lang="ru-RU" dirty="0"/>
              <a:t/>
            </a:r>
            <a:br>
              <a:rPr lang="ru-RU" dirty="0"/>
            </a:br>
            <a:r>
              <a:rPr lang="ru-RU" dirty="0" smtClean="0"/>
              <a:t>LIME </a:t>
            </a:r>
            <a:r>
              <a:rPr lang="ru-RU" dirty="0"/>
              <a:t>создаёт </a:t>
            </a:r>
            <a:r>
              <a:rPr lang="ru-RU" dirty="0" smtClean="0"/>
              <a:t>объясняющую </a:t>
            </a:r>
            <a:r>
              <a:rPr lang="ru-RU" dirty="0"/>
              <a:t>модель для конкретного предсказания.</a:t>
            </a:r>
            <a:r>
              <a:rPr lang="ru-RU" dirty="0"/>
              <a:t/>
            </a:r>
            <a:br>
              <a:rPr lang="ru-RU" dirty="0"/>
            </a:b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График</a:t>
            </a:r>
            <a:r>
              <a:rPr lang="ru-RU" dirty="0"/>
              <a:t>, показывающий, какие признаки сильнее всего повлияли на это конкретное решение </a:t>
            </a:r>
            <a:r>
              <a:rPr lang="ru-RU" dirty="0" smtClean="0"/>
              <a:t>модели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301" y="4136165"/>
            <a:ext cx="3207788" cy="226233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9089" y="4136165"/>
            <a:ext cx="3209199" cy="226415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8956" y="4136165"/>
            <a:ext cx="3050285" cy="226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268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Глобальная интерпретация (</a:t>
            </a:r>
            <a:r>
              <a:rPr lang="en-US" dirty="0"/>
              <a:t>SHAP)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Цель: Объяснить, почему для конкретного клиента модель предсказала </a:t>
            </a:r>
            <a:r>
              <a:rPr lang="ru-RU" dirty="0" smtClean="0"/>
              <a:t>популярный </a:t>
            </a:r>
            <a:r>
              <a:rPr lang="ru-RU" dirty="0"/>
              <a:t>или </a:t>
            </a:r>
            <a:r>
              <a:rPr lang="ru-RU" dirty="0" smtClean="0"/>
              <a:t>не популярный </a:t>
            </a:r>
            <a:r>
              <a:rPr lang="ru-RU" dirty="0"/>
              <a:t>товар.</a:t>
            </a:r>
            <a:r>
              <a:rPr lang="ru-RU" dirty="0"/>
              <a:t/>
            </a:r>
            <a:br>
              <a:rPr lang="ru-RU" dirty="0"/>
            </a:b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LIME </a:t>
            </a:r>
            <a:r>
              <a:rPr lang="ru-RU" dirty="0"/>
              <a:t>создаёт </a:t>
            </a:r>
            <a:r>
              <a:rPr lang="ru-RU" dirty="0" smtClean="0"/>
              <a:t>объясняющую </a:t>
            </a:r>
            <a:r>
              <a:rPr lang="ru-RU" dirty="0"/>
              <a:t>модель для конкретного предсказания.</a:t>
            </a:r>
            <a:r>
              <a:rPr lang="ru-RU" dirty="0"/>
              <a:t/>
            </a:r>
            <a:br>
              <a:rPr lang="ru-RU" dirty="0"/>
            </a:br>
            <a:endParaRPr lang="en-US" dirty="0" smtClean="0"/>
          </a:p>
          <a:p>
            <a:pPr marL="0" indent="0">
              <a:buNone/>
            </a:pPr>
            <a:r>
              <a:rPr lang="ru-RU" dirty="0" smtClean="0"/>
              <a:t>График</a:t>
            </a:r>
            <a:r>
              <a:rPr lang="ru-RU" dirty="0"/>
              <a:t>, показывающий, какие признаки сильнее всего повлияли на это конкретное решение </a:t>
            </a:r>
            <a:r>
              <a:rPr lang="ru-RU" dirty="0" smtClean="0"/>
              <a:t>модели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4546362"/>
            <a:ext cx="5129354" cy="200365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563" y="4546362"/>
            <a:ext cx="5298255" cy="2003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1259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Выводы</a:t>
            </a:r>
            <a:br>
              <a:rPr lang="ru-RU" dirty="0"/>
            </a:br>
            <a:r>
              <a:rPr lang="ru-RU" dirty="0"/>
              <a:t/>
            </a:r>
            <a:br>
              <a:rPr lang="ru-RU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 smtClean="0"/>
              <a:t>Grid search</a:t>
            </a:r>
            <a:r>
              <a:rPr lang="ru-RU" dirty="0" smtClean="0"/>
              <a:t> оказалс</a:t>
            </a:r>
            <a:r>
              <a:rPr lang="ru-RU" dirty="0"/>
              <a:t>я</a:t>
            </a:r>
            <a:r>
              <a:rPr lang="ru-RU" dirty="0" smtClean="0"/>
              <a:t> </a:t>
            </a:r>
            <a:r>
              <a:rPr lang="ru-RU" dirty="0"/>
              <a:t>лучшим методом подбора </a:t>
            </a:r>
            <a:r>
              <a:rPr lang="ru-RU" dirty="0" err="1"/>
              <a:t>гиперпараметров</a:t>
            </a:r>
            <a:r>
              <a:rPr lang="ru-RU" dirty="0"/>
              <a:t> для нашей задачи.</a:t>
            </a:r>
          </a:p>
          <a:p>
            <a:pPr marL="0" indent="0">
              <a:buNone/>
            </a:pPr>
            <a:r>
              <a:rPr lang="ru-RU" dirty="0"/>
              <a:t>Качество всех методов схожее, но </a:t>
            </a:r>
            <a:r>
              <a:rPr lang="en-US" dirty="0"/>
              <a:t>Grid search</a:t>
            </a:r>
            <a:r>
              <a:rPr lang="ru-RU" dirty="0"/>
              <a:t> </a:t>
            </a:r>
            <a:r>
              <a:rPr lang="ru-RU" dirty="0" smtClean="0"/>
              <a:t>показала </a:t>
            </a:r>
            <a:r>
              <a:rPr lang="ru-RU" dirty="0"/>
              <a:t>максимальную точность на тесте </a:t>
            </a:r>
            <a:r>
              <a:rPr lang="ru-RU" dirty="0" smtClean="0"/>
              <a:t>0.7146.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Локальная интерпретация (LIME) помогает понять отдельные предсказания модели.</a:t>
            </a:r>
          </a:p>
          <a:p>
            <a:pPr marL="0" indent="0">
              <a:buNone/>
            </a:pPr>
            <a:r>
              <a:rPr lang="ru-RU" dirty="0"/>
              <a:t>Глобальная интерпретация (SHAP) выявила, что </a:t>
            </a:r>
            <a:r>
              <a:rPr lang="ru-RU" dirty="0" err="1"/>
              <a:t>Member_number</a:t>
            </a:r>
            <a:r>
              <a:rPr lang="ru-RU" dirty="0"/>
              <a:t> - ключевой признак для прогноза.</a:t>
            </a:r>
          </a:p>
          <a:p>
            <a:pPr marL="0" indent="0">
              <a:buNone/>
            </a:pPr>
            <a:r>
              <a:rPr lang="ru-RU" dirty="0"/>
              <a:t>Итог: Работа выполнена, модель обучена, её решения можно объяснить.</a:t>
            </a:r>
          </a:p>
          <a:p>
            <a:pPr marL="0" indent="0">
              <a:buNone/>
            </a:pPr>
            <a:r>
              <a:rPr lang="ru-RU" dirty="0"/>
              <a:t/>
            </a:r>
            <a:br>
              <a:rPr lang="ru-RU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00177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26</TotalTime>
  <Words>151</Words>
  <Application>Microsoft Office PowerPoint</Application>
  <PresentationFormat>Widescreen</PresentationFormat>
  <Paragraphs>41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Wingdings 3</vt:lpstr>
      <vt:lpstr>Ion</vt:lpstr>
      <vt:lpstr>Лабораторная работа №3. Подбор гиперпараметров модели</vt:lpstr>
      <vt:lpstr>Подготовка данных</vt:lpstr>
      <vt:lpstr>Гиперпараметры Random Forest</vt:lpstr>
      <vt:lpstr>Методы подбора</vt:lpstr>
      <vt:lpstr>Методы подбора</vt:lpstr>
      <vt:lpstr>Результаты подбора</vt:lpstr>
      <vt:lpstr>Локальная интерпретация (LIME)</vt:lpstr>
      <vt:lpstr>Глобальная интерпретация (SHAP)</vt:lpstr>
      <vt:lpstr>Выводы 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№3. Подбор гиперпараметров модели</dc:title>
  <dc:creator>arty</dc:creator>
  <cp:lastModifiedBy>arty</cp:lastModifiedBy>
  <cp:revision>3</cp:revision>
  <dcterms:created xsi:type="dcterms:W3CDTF">2025-12-15T20:41:02Z</dcterms:created>
  <dcterms:modified xsi:type="dcterms:W3CDTF">2025-12-15T21:07:08Z</dcterms:modified>
</cp:coreProperties>
</file>