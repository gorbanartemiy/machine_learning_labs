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9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26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12/15/2025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12/15/2025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12/15/2025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12/15/2025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12/15/2025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12/15/2025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12/15/2025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12/15/2025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12/15/2025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12/15/2025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yasserh/titanic-dataset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b="1" dirty="0"/>
              <a:t>Лабораторная работа </a:t>
            </a:r>
            <a:r>
              <a:rPr lang="ru-RU" b="1" dirty="0" smtClean="0"/>
              <a:t>№</a:t>
            </a:r>
            <a:r>
              <a:rPr lang="en-US" b="1" dirty="0" smtClean="0"/>
              <a:t>2</a:t>
            </a:r>
            <a:r>
              <a:rPr lang="ru-RU" b="1" dirty="0" smtClean="0"/>
              <a:t>. </a:t>
            </a:r>
            <a:r>
              <a:rPr lang="ru-RU" b="1" dirty="0"/>
              <a:t>Классификация</a:t>
            </a:r>
            <a:r>
              <a:rPr lang="ru-RU" dirty="0"/>
              <a:t/>
            </a:r>
            <a:br>
              <a:rPr lang="ru-RU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u-RU" dirty="0" err="1" smtClean="0"/>
              <a:t>Горбан</a:t>
            </a:r>
            <a:r>
              <a:rPr lang="ru-RU" dirty="0" smtClean="0"/>
              <a:t> Артемий М8О-307Б-23</a:t>
            </a:r>
          </a:p>
          <a:p>
            <a:r>
              <a:rPr lang="ru-RU" dirty="0" err="1" smtClean="0"/>
              <a:t>Датасет</a:t>
            </a:r>
            <a:r>
              <a:rPr lang="ru-RU" dirty="0"/>
              <a:t>: </a:t>
            </a:r>
            <a:r>
              <a:rPr lang="en-US" dirty="0" smtClean="0">
                <a:hlinkClick r:id="rId2"/>
              </a:rPr>
              <a:t>Titanic-Dataset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22972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Цель </a:t>
            </a:r>
            <a:r>
              <a:rPr lang="ru-RU" b="1" dirty="0" smtClean="0"/>
              <a:t>работы: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0842" y="1853248"/>
            <a:ext cx="8946541" cy="4195481"/>
          </a:xfrm>
        </p:spPr>
        <p:txBody>
          <a:bodyPr/>
          <a:lstStyle/>
          <a:p>
            <a:r>
              <a:rPr lang="ru-RU" dirty="0"/>
              <a:t>Обработать </a:t>
            </a:r>
            <a:r>
              <a:rPr lang="ru-RU" dirty="0" err="1"/>
              <a:t>датасет</a:t>
            </a:r>
            <a:r>
              <a:rPr lang="ru-RU" dirty="0"/>
              <a:t> </a:t>
            </a:r>
            <a:r>
              <a:rPr lang="ru-RU" dirty="0" err="1"/>
              <a:t>Titanic</a:t>
            </a:r>
            <a:endParaRPr lang="ru-RU" dirty="0"/>
          </a:p>
          <a:p>
            <a:r>
              <a:rPr lang="ru-RU" dirty="0"/>
              <a:t>Обучить и оценить </a:t>
            </a:r>
            <a:r>
              <a:rPr lang="ru-RU" dirty="0" err="1"/>
              <a:t>CatBoost</a:t>
            </a:r>
            <a:endParaRPr lang="ru-RU" dirty="0"/>
          </a:p>
          <a:p>
            <a:r>
              <a:rPr lang="ru-RU" dirty="0"/>
              <a:t>Сравнить метрики при разных настройках</a:t>
            </a:r>
          </a:p>
          <a:p>
            <a:r>
              <a:rPr lang="ru-RU" dirty="0"/>
              <a:t>Показать работу с признаками</a:t>
            </a:r>
          </a:p>
        </p:txBody>
      </p:sp>
    </p:spTree>
    <p:extLst>
      <p:ext uri="{BB962C8B-B14F-4D97-AF65-F5344CB8AC3E}">
        <p14:creationId xmlns:p14="http://schemas.microsoft.com/office/powerpoint/2010/main" val="4233542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Подготовка </a:t>
            </a:r>
            <a:r>
              <a:rPr lang="ru-RU" b="1" dirty="0" smtClean="0"/>
              <a:t>данных: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8974" y="1237642"/>
            <a:ext cx="8946541" cy="4195481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Исходные данные: 891 пассажир, 11 признаков</a:t>
            </a:r>
          </a:p>
          <a:p>
            <a:pPr marL="0" indent="0">
              <a:buNone/>
            </a:pPr>
            <a:r>
              <a:rPr lang="ru-RU" dirty="0"/>
              <a:t>Проблемы: пропуски в </a:t>
            </a:r>
            <a:r>
              <a:rPr lang="en-US" dirty="0"/>
              <a:t>Age (177), Cabin (687), </a:t>
            </a:r>
            <a:r>
              <a:rPr lang="ru-RU" dirty="0"/>
              <a:t>дисбаланс классов (38% выжило)</a:t>
            </a:r>
          </a:p>
          <a:p>
            <a:pPr marL="0" indent="0">
              <a:buNone/>
            </a:pPr>
            <a:r>
              <a:rPr lang="ru-RU" dirty="0"/>
              <a:t>Обработка:</a:t>
            </a:r>
          </a:p>
          <a:p>
            <a:pPr marL="457200" lvl="1" indent="0">
              <a:buNone/>
            </a:pPr>
            <a:r>
              <a:rPr lang="ru-RU" dirty="0"/>
              <a:t>Заполнение </a:t>
            </a:r>
            <a:r>
              <a:rPr lang="en-US" dirty="0"/>
              <a:t>Age </a:t>
            </a:r>
            <a:r>
              <a:rPr lang="ru-RU" dirty="0"/>
              <a:t>медианой по </a:t>
            </a:r>
            <a:r>
              <a:rPr lang="ru-RU" dirty="0" smtClean="0"/>
              <a:t>группам (</a:t>
            </a:r>
            <a:r>
              <a:rPr lang="en-US" dirty="0" err="1" smtClean="0"/>
              <a:t>Pclass</a:t>
            </a:r>
            <a:r>
              <a:rPr lang="en-US" dirty="0" smtClean="0"/>
              <a:t> + Sex)</a:t>
            </a:r>
          </a:p>
          <a:p>
            <a:pPr marL="457200" lvl="1" indent="0">
              <a:buNone/>
            </a:pPr>
            <a:r>
              <a:rPr lang="ru-RU" dirty="0" smtClean="0"/>
              <a:t>Извлечение </a:t>
            </a:r>
            <a:r>
              <a:rPr lang="en-US" dirty="0" smtClean="0"/>
              <a:t>Title </a:t>
            </a:r>
            <a:r>
              <a:rPr lang="ru-RU" dirty="0" smtClean="0"/>
              <a:t>из </a:t>
            </a:r>
            <a:r>
              <a:rPr lang="en-US" dirty="0" smtClean="0"/>
              <a:t>Name (</a:t>
            </a:r>
            <a:r>
              <a:rPr lang="en-US" dirty="0" err="1" smtClean="0"/>
              <a:t>Mr</a:t>
            </a:r>
            <a:r>
              <a:rPr lang="en-US" dirty="0" smtClean="0"/>
              <a:t>, Miss, </a:t>
            </a:r>
            <a:r>
              <a:rPr lang="en-US" dirty="0" err="1" smtClean="0"/>
              <a:t>Mrs</a:t>
            </a:r>
            <a:r>
              <a:rPr lang="en-US" dirty="0" smtClean="0"/>
              <a:t>, Master)</a:t>
            </a:r>
          </a:p>
          <a:p>
            <a:pPr marL="457200" lvl="1" indent="0">
              <a:buNone/>
            </a:pPr>
            <a:r>
              <a:rPr lang="ru-RU" dirty="0" smtClean="0"/>
              <a:t>Создание </a:t>
            </a:r>
            <a:r>
              <a:rPr lang="en-US" dirty="0" err="1"/>
              <a:t>FamilySize</a:t>
            </a:r>
            <a:r>
              <a:rPr lang="en-US" dirty="0"/>
              <a:t>, </a:t>
            </a:r>
            <a:r>
              <a:rPr lang="en-US" dirty="0" err="1"/>
              <a:t>IsAlone</a:t>
            </a:r>
            <a:r>
              <a:rPr lang="en-US" dirty="0"/>
              <a:t>, Deck </a:t>
            </a:r>
            <a:r>
              <a:rPr lang="ru-RU" dirty="0"/>
              <a:t>из </a:t>
            </a:r>
            <a:r>
              <a:rPr lang="en-US" dirty="0"/>
              <a:t>Cabin</a:t>
            </a:r>
          </a:p>
          <a:p>
            <a:pPr marL="457200" lvl="1" indent="0">
              <a:buNone/>
            </a:pPr>
            <a:r>
              <a:rPr lang="ru-RU" dirty="0"/>
              <a:t>Удалены </a:t>
            </a:r>
            <a:r>
              <a:rPr lang="en-US" dirty="0" err="1"/>
              <a:t>PassengerId</a:t>
            </a:r>
            <a:r>
              <a:rPr lang="en-US" dirty="0"/>
              <a:t>, Name, Ticket</a:t>
            </a:r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1020" y="3204755"/>
            <a:ext cx="5011047" cy="3522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3511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Feature Engineering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6111" y="1232522"/>
            <a:ext cx="8946541" cy="4195481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Title</a:t>
            </a:r>
            <a:r>
              <a:rPr lang="en-US" dirty="0"/>
              <a:t> - </a:t>
            </a:r>
            <a:r>
              <a:rPr lang="ru-RU" dirty="0"/>
              <a:t>социальный статус (сильная корреляция с выживанием)</a:t>
            </a:r>
          </a:p>
          <a:p>
            <a:pPr marL="0" indent="0">
              <a:buNone/>
            </a:pPr>
            <a:r>
              <a:rPr lang="en-US" b="1" dirty="0" err="1"/>
              <a:t>FamilySize</a:t>
            </a:r>
            <a:r>
              <a:rPr lang="en-US" dirty="0"/>
              <a:t> = </a:t>
            </a:r>
            <a:r>
              <a:rPr lang="en-US" dirty="0" err="1"/>
              <a:t>SibSp</a:t>
            </a:r>
            <a:r>
              <a:rPr lang="en-US" dirty="0"/>
              <a:t> + Parch + 1</a:t>
            </a:r>
          </a:p>
          <a:p>
            <a:pPr marL="0" indent="0">
              <a:buNone/>
            </a:pPr>
            <a:r>
              <a:rPr lang="en-US" b="1" dirty="0" err="1"/>
              <a:t>IsAlone</a:t>
            </a:r>
            <a:r>
              <a:rPr lang="en-US" dirty="0"/>
              <a:t> = (</a:t>
            </a:r>
            <a:r>
              <a:rPr lang="en-US" dirty="0" err="1"/>
              <a:t>FamilySize</a:t>
            </a:r>
            <a:r>
              <a:rPr lang="en-US" dirty="0"/>
              <a:t> == 1)</a:t>
            </a:r>
          </a:p>
          <a:p>
            <a:pPr marL="0" indent="0">
              <a:buNone/>
            </a:pPr>
            <a:r>
              <a:rPr lang="en-US" b="1" dirty="0"/>
              <a:t>Deck</a:t>
            </a:r>
            <a:r>
              <a:rPr lang="en-US" dirty="0"/>
              <a:t> - </a:t>
            </a:r>
            <a:r>
              <a:rPr lang="ru-RU" dirty="0"/>
              <a:t>первая буква </a:t>
            </a:r>
            <a:r>
              <a:rPr lang="en-US" dirty="0"/>
              <a:t>Cabin (A-G, Unknown)</a:t>
            </a:r>
          </a:p>
          <a:p>
            <a:pPr marL="0" indent="0">
              <a:buNone/>
            </a:pPr>
            <a:r>
              <a:rPr lang="en-US" b="1" dirty="0" err="1"/>
              <a:t>FarePerPerson</a:t>
            </a:r>
            <a:r>
              <a:rPr lang="en-US" dirty="0"/>
              <a:t> = Fare / </a:t>
            </a:r>
            <a:r>
              <a:rPr lang="en-US" dirty="0" err="1"/>
              <a:t>FamilySize</a:t>
            </a:r>
            <a:endParaRPr lang="en-US" dirty="0"/>
          </a:p>
          <a:p>
            <a:pPr marL="0" indent="0">
              <a:buNone/>
            </a:pPr>
            <a:r>
              <a:rPr lang="ru-RU" b="1" dirty="0"/>
              <a:t>Итог:</a:t>
            </a:r>
            <a:r>
              <a:rPr lang="ru-RU" dirty="0"/>
              <a:t> 20+ признаков вместо исходных 11</a:t>
            </a:r>
          </a:p>
          <a:p>
            <a:pPr marL="0" indent="0">
              <a:buNone/>
            </a:pPr>
            <a:r>
              <a:rPr lang="ru-RU" dirty="0"/>
              <a:t/>
            </a:r>
            <a:br>
              <a:rPr lang="ru-RU" dirty="0"/>
            </a:b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111" y="3786829"/>
            <a:ext cx="7348091" cy="2876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6549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/>
              <a:t>Визуализация данных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/>
              <a:t>Распределение классов</a:t>
            </a:r>
            <a:r>
              <a:rPr lang="ru-RU" dirty="0"/>
              <a:t>: 62% не выжили, 38% выжили</a:t>
            </a:r>
          </a:p>
          <a:p>
            <a:pPr marL="0" indent="0">
              <a:buNone/>
            </a:pPr>
            <a:r>
              <a:rPr lang="ru-RU" b="1" dirty="0"/>
              <a:t>Возраст </a:t>
            </a:r>
            <a:r>
              <a:rPr lang="ru-RU" b="1" dirty="0" err="1"/>
              <a:t>vs</a:t>
            </a:r>
            <a:r>
              <a:rPr lang="ru-RU" b="1" dirty="0"/>
              <a:t> Выживание</a:t>
            </a:r>
            <a:r>
              <a:rPr lang="ru-RU" dirty="0"/>
              <a:t>: дети &lt;10 лет имели высокий шанс</a:t>
            </a:r>
          </a:p>
          <a:p>
            <a:pPr marL="0" indent="0">
              <a:buNone/>
            </a:pPr>
            <a:r>
              <a:rPr lang="ru-RU" b="1" dirty="0"/>
              <a:t>Класс билета</a:t>
            </a:r>
            <a:r>
              <a:rPr lang="ru-RU" dirty="0"/>
              <a:t>: 1-й класс выживал в 63% случаев, 3-й - только 24%</a:t>
            </a:r>
          </a:p>
          <a:p>
            <a:pPr marL="0" indent="0">
              <a:buNone/>
            </a:pPr>
            <a:r>
              <a:rPr lang="ru-RU" b="1" dirty="0"/>
              <a:t>Пол</a:t>
            </a:r>
            <a:r>
              <a:rPr lang="ru-RU" dirty="0"/>
              <a:t>: 74% женщин выжили </a:t>
            </a:r>
            <a:r>
              <a:rPr lang="ru-RU" dirty="0" err="1"/>
              <a:t>vs</a:t>
            </a:r>
            <a:r>
              <a:rPr lang="ru-RU" dirty="0"/>
              <a:t> 19% мужчин</a:t>
            </a:r>
          </a:p>
          <a:p>
            <a:pPr marL="0" indent="0">
              <a:buNone/>
            </a:pPr>
            <a:r>
              <a:rPr lang="ru-RU" dirty="0"/>
              <a:t/>
            </a:r>
            <a:br>
              <a:rPr lang="ru-RU" dirty="0"/>
            </a:b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6398" y="3853893"/>
            <a:ext cx="5275224" cy="259417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923" y="4018382"/>
            <a:ext cx="6133032" cy="2265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7496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Настройка </a:t>
            </a:r>
            <a:r>
              <a:rPr lang="en-US" b="1" dirty="0" err="1"/>
              <a:t>CatBoost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6111" y="1232522"/>
            <a:ext cx="8946541" cy="4195481"/>
          </a:xfrm>
        </p:spPr>
        <p:txBody>
          <a:bodyPr/>
          <a:lstStyle/>
          <a:p>
            <a:pPr marL="0" indent="0">
              <a:buNone/>
            </a:pPr>
            <a:r>
              <a:rPr lang="ru-RU" b="1" dirty="0"/>
              <a:t>Базовые параметры: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iterations: 1000</a:t>
            </a:r>
          </a:p>
          <a:p>
            <a:pPr marL="0" indent="0">
              <a:buNone/>
            </a:pPr>
            <a:r>
              <a:rPr lang="en-US" dirty="0" err="1"/>
              <a:t>learning_rate</a:t>
            </a:r>
            <a:r>
              <a:rPr lang="en-US" dirty="0"/>
              <a:t>: 0.03</a:t>
            </a:r>
          </a:p>
          <a:p>
            <a:pPr marL="0" indent="0">
              <a:buNone/>
            </a:pPr>
            <a:r>
              <a:rPr lang="en-US" dirty="0"/>
              <a:t>depth: 6</a:t>
            </a:r>
          </a:p>
          <a:p>
            <a:pPr marL="0" indent="0">
              <a:buNone/>
            </a:pPr>
            <a:r>
              <a:rPr lang="en-US" dirty="0" err="1"/>
              <a:t>loss_function</a:t>
            </a:r>
            <a:r>
              <a:rPr lang="en-US" dirty="0"/>
              <a:t>: </a:t>
            </a:r>
            <a:r>
              <a:rPr lang="en-US" dirty="0" err="1"/>
              <a:t>Logloss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cat_features</a:t>
            </a:r>
            <a:r>
              <a:rPr lang="en-US" dirty="0"/>
              <a:t>: ['Sex', 'Embarked', 'Title', 'Deck']</a:t>
            </a:r>
          </a:p>
          <a:p>
            <a:pPr marL="0" indent="0">
              <a:buNone/>
            </a:pPr>
            <a:r>
              <a:rPr lang="ru-RU" b="1" dirty="0"/>
              <a:t>Стратегия </a:t>
            </a:r>
            <a:r>
              <a:rPr lang="ru-RU" b="1" dirty="0" err="1"/>
              <a:t>валидации</a:t>
            </a:r>
            <a:r>
              <a:rPr lang="ru-RU" b="1" dirty="0"/>
              <a:t>:</a:t>
            </a:r>
            <a:r>
              <a:rPr lang="ru-RU" dirty="0"/>
              <a:t/>
            </a:r>
            <a:br>
              <a:rPr lang="ru-RU" dirty="0"/>
            </a:br>
            <a:r>
              <a:rPr lang="en-US" dirty="0"/>
              <a:t>Stratified 5-Fold Cross-Validation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7580" y="1674975"/>
            <a:ext cx="5303584" cy="4773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403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Метрики качества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111" y="1304209"/>
            <a:ext cx="5553429" cy="284644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111" y="4290239"/>
            <a:ext cx="6459515" cy="236848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741" y="1304209"/>
            <a:ext cx="4666767" cy="2161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88905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Поверхности взаимоотношений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1" y="1411983"/>
            <a:ext cx="8946541" cy="4195481"/>
          </a:xfrm>
        </p:spPr>
        <p:txBody>
          <a:bodyPr/>
          <a:lstStyle/>
          <a:p>
            <a:pPr marL="0" indent="0">
              <a:buNone/>
            </a:pPr>
            <a:r>
              <a:rPr lang="ru-RU" dirty="0" smtClean="0"/>
              <a:t>Нарисованы графики взаимоотношений признаков: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4209" y="1853248"/>
            <a:ext cx="5706061" cy="227269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563" y="1853248"/>
            <a:ext cx="5700046" cy="227269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564" y="4125946"/>
            <a:ext cx="5700046" cy="229621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4209" y="4125947"/>
            <a:ext cx="5760113" cy="2272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5358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Важность признаков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 smtClean="0"/>
              <a:t>Топ-5 </a:t>
            </a:r>
            <a:r>
              <a:rPr lang="ru-RU" b="1" dirty="0"/>
              <a:t>самых важных:</a:t>
            </a:r>
            <a:endParaRPr lang="ru-RU" dirty="0"/>
          </a:p>
          <a:p>
            <a:pPr marL="0" indent="0">
              <a:buNone/>
            </a:pPr>
            <a:r>
              <a:rPr lang="ru-RU" b="1" dirty="0" err="1"/>
              <a:t>Sex</a:t>
            </a:r>
            <a:r>
              <a:rPr lang="ru-RU" dirty="0"/>
              <a:t> (самый значимый)</a:t>
            </a:r>
          </a:p>
          <a:p>
            <a:pPr marL="0" indent="0">
              <a:buNone/>
            </a:pPr>
            <a:r>
              <a:rPr lang="ru-RU" b="1" dirty="0" err="1"/>
              <a:t>Pclass</a:t>
            </a:r>
            <a:r>
              <a:rPr lang="ru-RU" dirty="0"/>
              <a:t> (класс билета)</a:t>
            </a:r>
          </a:p>
          <a:p>
            <a:pPr marL="0" indent="0">
              <a:buNone/>
            </a:pPr>
            <a:r>
              <a:rPr lang="ru-RU" b="1" dirty="0" err="1"/>
              <a:t>Fare</a:t>
            </a:r>
            <a:r>
              <a:rPr lang="ru-RU" dirty="0"/>
              <a:t> (стоимость)</a:t>
            </a:r>
          </a:p>
          <a:p>
            <a:pPr marL="0" indent="0">
              <a:buNone/>
            </a:pPr>
            <a:r>
              <a:rPr lang="ru-RU" b="1" dirty="0" err="1"/>
              <a:t>Title</a:t>
            </a:r>
            <a:r>
              <a:rPr lang="ru-RU" dirty="0"/>
              <a:t> (извлечен из </a:t>
            </a:r>
            <a:r>
              <a:rPr lang="ru-RU" dirty="0" err="1"/>
              <a:t>Name</a:t>
            </a:r>
            <a:r>
              <a:rPr lang="ru-RU" dirty="0"/>
              <a:t>)</a:t>
            </a:r>
          </a:p>
          <a:p>
            <a:pPr marL="0" indent="0">
              <a:buNone/>
            </a:pPr>
            <a:r>
              <a:rPr lang="ru-RU" b="1" dirty="0" err="1"/>
              <a:t>Age</a:t>
            </a:r>
            <a:r>
              <a:rPr lang="ru-RU" dirty="0"/>
              <a:t> (возраст)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4106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Итоги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/>
              <a:t>Что сделано: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Качественная обработка данных (</a:t>
            </a:r>
            <a:r>
              <a:rPr lang="ru-RU" dirty="0" err="1"/>
              <a:t>фичи</a:t>
            </a:r>
            <a:r>
              <a:rPr lang="ru-RU" dirty="0"/>
              <a:t> </a:t>
            </a:r>
            <a:r>
              <a:rPr lang="ru-RU" dirty="0" err="1"/>
              <a:t>Title</a:t>
            </a:r>
            <a:r>
              <a:rPr lang="ru-RU" dirty="0"/>
              <a:t>, </a:t>
            </a:r>
            <a:r>
              <a:rPr lang="ru-RU" dirty="0" err="1"/>
              <a:t>Deck</a:t>
            </a:r>
            <a:r>
              <a:rPr lang="ru-RU" dirty="0"/>
              <a:t>, </a:t>
            </a:r>
            <a:r>
              <a:rPr lang="ru-RU" dirty="0" err="1"/>
              <a:t>FamilySize</a:t>
            </a:r>
            <a:r>
              <a:rPr lang="ru-RU" dirty="0"/>
              <a:t>)</a:t>
            </a:r>
          </a:p>
          <a:p>
            <a:pPr marL="0" indent="0">
              <a:buNone/>
            </a:pPr>
            <a:r>
              <a:rPr lang="ru-RU" dirty="0" err="1"/>
              <a:t>CatBoost</a:t>
            </a:r>
            <a:r>
              <a:rPr lang="ru-RU" dirty="0"/>
              <a:t> </a:t>
            </a:r>
            <a:r>
              <a:rPr lang="ru-RU" dirty="0" smtClean="0"/>
              <a:t>показал </a:t>
            </a:r>
            <a:r>
              <a:rPr lang="ru-RU" dirty="0"/>
              <a:t>стабильно высокие </a:t>
            </a:r>
            <a:r>
              <a:rPr lang="ru-RU" dirty="0" smtClean="0"/>
              <a:t>результаты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b="1" dirty="0"/>
              <a:t>Главный вывод:</a:t>
            </a:r>
            <a:r>
              <a:rPr lang="ru-RU" dirty="0"/>
              <a:t> Качественный </a:t>
            </a:r>
            <a:r>
              <a:rPr lang="ru-RU" dirty="0" err="1"/>
              <a:t>feature</a:t>
            </a:r>
            <a:r>
              <a:rPr lang="ru-RU" dirty="0"/>
              <a:t> </a:t>
            </a:r>
            <a:r>
              <a:rPr lang="ru-RU" dirty="0" err="1"/>
              <a:t>engineering</a:t>
            </a:r>
            <a:r>
              <a:rPr lang="ru-RU" dirty="0"/>
              <a:t> дал больший прирост, чем тонкая настройка </a:t>
            </a:r>
            <a:r>
              <a:rPr lang="ru-RU" dirty="0" err="1"/>
              <a:t>гиперпараметров</a:t>
            </a:r>
            <a:r>
              <a:rPr lang="ru-RU" dirty="0"/>
              <a:t>.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2629663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29</TotalTime>
  <Words>223</Words>
  <Application>Microsoft Office PowerPoint</Application>
  <PresentationFormat>Widescreen</PresentationFormat>
  <Paragraphs>55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Century Gothic</vt:lpstr>
      <vt:lpstr>Wingdings 3</vt:lpstr>
      <vt:lpstr>Ion</vt:lpstr>
      <vt:lpstr>Лабораторная работа №2. Классификация </vt:lpstr>
      <vt:lpstr>Цель работы:</vt:lpstr>
      <vt:lpstr>Подготовка данных:</vt:lpstr>
      <vt:lpstr>Feature Engineering</vt:lpstr>
      <vt:lpstr>Визуализация данных</vt:lpstr>
      <vt:lpstr>Настройка CatBoost</vt:lpstr>
      <vt:lpstr>Метрики качества</vt:lpstr>
      <vt:lpstr>Поверхности взаимоотношений</vt:lpstr>
      <vt:lpstr>Важность признаков</vt:lpstr>
      <vt:lpstr>Итоги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№2. Классификация</dc:title>
  <dc:creator>arty</dc:creator>
  <cp:lastModifiedBy>arty</cp:lastModifiedBy>
  <cp:revision>3</cp:revision>
  <dcterms:created xsi:type="dcterms:W3CDTF">2025-12-15T20:07:46Z</dcterms:created>
  <dcterms:modified xsi:type="dcterms:W3CDTF">2025-12-15T20:37:40Z</dcterms:modified>
</cp:coreProperties>
</file>